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766E"/>
              </a:gs>
              <a:gs pos="100000">
                <a:srgbClr val="082E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1371600" y="5120640"/>
            <a:ext cx="8595360" cy="2377440"/>
          </a:xfrm>
          <a:prstGeom prst="arc">
            <a:avLst/>
          </a:prstGeom>
          <a:noFill/>
          <a:ln w="1778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1371600" y="5577840"/>
            <a:ext cx="7132320" cy="2377440"/>
          </a:xfrm>
          <a:prstGeom prst="arc">
            <a:avLst/>
          </a:prstGeom>
          <a:noFill/>
          <a:ln w="12700">
            <a:solidFill>
              <a:srgbClr val="CCFB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60920" y="4709160"/>
            <a:ext cx="91440" cy="91440"/>
          </a:xfrm>
          <a:prstGeom prst="ellipse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0" y="5257800"/>
            <a:ext cx="68580" cy="68580"/>
          </a:xfrm>
          <a:prstGeom prst="ellipse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52160" y="1691640"/>
            <a:ext cx="82296" cy="82296"/>
          </a:xfrm>
          <a:prstGeom prst="ellipse">
            <a:avLst/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502920"/>
            <a:ext cx="228600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won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676656"/>
            <a:ext cx="2090777" cy="6035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1874519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Connecting People
With </a:t>
            </a:r>
            <a:r>
              <a:rPr sz="5200" b="1">
                <a:solidFill>
                  <a:srgbClr val="FDE047"/>
                </a:solidFill>
                <a:latin typeface="Bricolage Grotesque"/>
              </a:rPr>
              <a:t>Opportunities.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977639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CFBF1"/>
                </a:solidFill>
                <a:latin typeface="Manrope"/>
              </a:rPr>
              <a:t>SWON — A modern temporary workforce platform.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Discover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9967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19472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777240"/>
            <a:ext cx="2880360" cy="5394960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i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1051560"/>
            <a:ext cx="2239413" cy="4846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5216" y="5989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CFBF1"/>
                </a:solidFill>
                <a:latin typeface="Manrope"/>
              </a:rPr>
              <a:t>Project Presentation     ·     30 September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CFBF1"/>
                </a:solidFill>
                <a:latin typeface="Manrope"/>
              </a:rPr>
              <a:t>SWON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CCFBF1"/>
                </a:solidFill>
                <a:latin typeface="Manrope"/>
              </a:rPr>
              <a:t>Temporary Workforce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CFBF1"/>
                </a:solidFill>
                <a:latin typeface="Manrop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Temporary work today runs on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trust that isn't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2852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84708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9616" y="188366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201E"/>
                </a:solidFill>
                <a:latin typeface="Bricolage Grotesque"/>
              </a:rPr>
              <a:t>For Workers</a:t>
            </a:r>
          </a:p>
        </p:txBody>
      </p:sp>
      <p:sp>
        <p:nvSpPr>
          <p:cNvPr id="8" name="Oval 7"/>
          <p:cNvSpPr/>
          <p:nvPr/>
        </p:nvSpPr>
        <p:spPr>
          <a:xfrm>
            <a:off x="896112" y="2569463"/>
            <a:ext cx="237744" cy="23774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96312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Jobs found through word of mouth — hard to know which are genuine</a:t>
            </a:r>
          </a:p>
        </p:txBody>
      </p:sp>
      <p:sp>
        <p:nvSpPr>
          <p:cNvPr id="10" name="Oval 9"/>
          <p:cNvSpPr/>
          <p:nvPr/>
        </p:nvSpPr>
        <p:spPr>
          <a:xfrm>
            <a:off x="896112" y="3191256"/>
            <a:ext cx="237744" cy="23774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1810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Pay agreed verbally, with no record when something goes wrong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" y="3813048"/>
            <a:ext cx="237744" cy="23774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39896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No proof of past work to show the next host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1572768"/>
            <a:ext cx="5285232" cy="2880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38544" y="184708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0336" y="1883664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0201E"/>
                </a:solidFill>
                <a:latin typeface="Bricolage Grotesque"/>
              </a:rPr>
              <a:t>For Hosts</a:t>
            </a:r>
          </a:p>
        </p:txBody>
      </p:sp>
      <p:sp>
        <p:nvSpPr>
          <p:cNvPr id="17" name="Oval 16"/>
          <p:cNvSpPr/>
          <p:nvPr/>
        </p:nvSpPr>
        <p:spPr>
          <a:xfrm>
            <a:off x="6656832" y="2569463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96312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Urgent need for people, with no reliable way to find them</a:t>
            </a:r>
          </a:p>
        </p:txBody>
      </p:sp>
      <p:sp>
        <p:nvSpPr>
          <p:cNvPr id="19" name="Oval 18"/>
          <p:cNvSpPr/>
          <p:nvPr/>
        </p:nvSpPr>
        <p:spPr>
          <a:xfrm>
            <a:off x="6656832" y="3191256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118104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Last-minute no-shows disrupt the whole day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3813048"/>
            <a:ext cx="237744" cy="23774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739896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4F5F5C"/>
                </a:solidFill>
                <a:latin typeface="Manrope"/>
              </a:rPr>
              <a:t>Attendance tracked on paper, payments kept by 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00600"/>
            <a:ext cx="11045952" cy="1234440"/>
          </a:xfrm>
          <a:prstGeom prst="roundRect">
            <a:avLst>
              <a:gd name="adj" fmla="val 7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5084064"/>
            <a:ext cx="1481328" cy="38404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150" b="1">
                <a:solidFill>
                  <a:srgbClr val="FFFFFF"/>
                </a:solidFill>
                <a:latin typeface="Manrope"/>
              </a:rPr>
              <a:t>SWON's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5029200"/>
            <a:ext cx="8778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0201E"/>
                </a:solidFill>
                <a:latin typeface="Manrope"/>
              </a:rPr>
              <a:t>One structured journey — from finding work to getting paid — </a:t>
            </a:r>
            <a:r>
              <a:rPr sz="1500" b="1">
                <a:solidFill>
                  <a:srgbClr val="0F766E"/>
                </a:solidFill>
                <a:latin typeface="Manrope"/>
              </a:rPr>
              <a:t>where both sides can see and trust every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THE IDEA BEHIND SWON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One place where temporary work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simply 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27632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>
                <a:solidFill>
                  <a:srgbClr val="10201E"/>
                </a:solidFill>
                <a:latin typeface="Manrope"/>
              </a:rPr>
              <a:t>SWON brings temporary workers and businesses together through a </a:t>
            </a:r>
            <a:r>
              <a:rPr sz="1650" b="1">
                <a:solidFill>
                  <a:srgbClr val="0F766E"/>
                </a:solidFill>
                <a:latin typeface="Manrope"/>
              </a:rPr>
              <a:t>simple, structured and transparent</a:t>
            </a:r>
            <a:r>
              <a:rPr sz="1650" b="0">
                <a:solidFill>
                  <a:srgbClr val="10201E"/>
                </a:solidFill>
                <a:latin typeface="Manrope"/>
              </a:rPr>
              <a:t> digital experience.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880360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986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01E"/>
                </a:solidFill>
                <a:latin typeface="Manrope"/>
              </a:rPr>
              <a:t>For people looking for temporary work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3447288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6557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01E"/>
                </a:solidFill>
                <a:latin typeface="Manrope"/>
              </a:rPr>
              <a:t>For hosts who need temporary workers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014215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32503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01E"/>
                </a:solidFill>
                <a:latin typeface="Manrope"/>
              </a:rPr>
              <a:t>For a journey that stays clear from start to finish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7669987" y="2039112"/>
            <a:ext cx="1405433" cy="1298448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75420" y="2039112"/>
            <a:ext cx="1588770" cy="1298448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959498" y="3337560"/>
            <a:ext cx="2115922" cy="21031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75420" y="3337560"/>
            <a:ext cx="1791766" cy="21031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822234" y="3337560"/>
            <a:ext cx="1253186" cy="1340510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75420" y="3337560"/>
            <a:ext cx="1487271" cy="1340510"/>
          </a:xfrm>
          <a:prstGeom prst="line">
            <a:avLst/>
          </a:prstGeom>
          <a:ln w="13970">
            <a:solidFill>
              <a:srgbClr val="0F7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08492" y="2953512"/>
            <a:ext cx="1133856" cy="768096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ricolage Grotesque"/>
              </a:rPr>
              <a:t>SWON</a:t>
            </a:r>
          </a:p>
          <a:p>
            <a:pPr algn="ctr"/>
            <a:r>
              <a:rPr sz="850" b="1">
                <a:solidFill>
                  <a:srgbClr val="CCFBF1"/>
                </a:solidFill>
                <a:latin typeface="Manrope"/>
              </a:rPr>
              <a:t>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49947" y="1911095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WORKERS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44150" y="1911095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HOSTS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9458" y="3230575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OPPORTUNITIES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47146" y="3230575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2194" y="4550054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EARNINGS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2651" y="4550054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50" b="1">
                <a:solidFill>
                  <a:srgbClr val="0B4540"/>
                </a:solidFill>
                <a:latin typeface="Manrope"/>
              </a:rPr>
              <a:t>TRUST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12080"/>
            <a:ext cx="1104595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431536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93976" y="5431536"/>
            <a:ext cx="31089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5431536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Opportunities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056" y="5431536"/>
            <a:ext cx="31089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5431536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Pairing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5816" y="5431536"/>
            <a:ext cx="31089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4999" y="5431536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5431536"/>
            <a:ext cx="31089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59" y="5431536"/>
            <a:ext cx="128016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Earnings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5" y="5431536"/>
            <a:ext cx="31089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69680" y="5431536"/>
            <a:ext cx="1143000" cy="43891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1250" b="1">
                <a:solidFill>
                  <a:srgbClr val="0B4540"/>
                </a:solidFill>
                <a:latin typeface="Manrope"/>
              </a:rPr>
              <a:t>Trust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The Idea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HOW SWON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One journey.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Eight clear steps.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8096" y="1755648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8105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322576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Browse nearby opportunities that fit your skills and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572768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21024" y="1755648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4" y="18105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Pairing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322576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See why you match — skills, distance and trust, made visible.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2784" y="1572768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952" y="1755648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18105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Flight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22576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The worker raises a request; the host reviews it in one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1" y="1572768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26880" y="1755648"/>
            <a:ext cx="420624" cy="42062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0" y="181051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Bond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7" y="2322576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The host hires — both sides commit to the same clear terms.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73552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3456432"/>
            <a:ext cx="420624" cy="420624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3511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023360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Teams are organized — who works where, on which day.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9856" y="3273552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21024" y="3456432"/>
            <a:ext cx="420624" cy="420624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9664" y="3511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Attendance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4023360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Check-in and check-out are recorded live at the site.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2784" y="3273552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73952" y="3456432"/>
            <a:ext cx="420624" cy="420624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511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Earnings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23360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Work is approved and pay is recorded — transparently.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1" y="3273552"/>
            <a:ext cx="274320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6880" y="3456432"/>
            <a:ext cx="420624" cy="420624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511296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0201E"/>
                </a:solidFill>
                <a:latin typeface="Bricolage Grotesque"/>
              </a:rPr>
              <a:t>TrustScore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45167" y="4023360"/>
            <a:ext cx="23408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Every completed journey builds a reputation that opens doors.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029200"/>
            <a:ext cx="3246120" cy="8686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17550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Manrope"/>
              </a:rPr>
              <a:t>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43153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01E"/>
                </a:solidFill>
                <a:latin typeface="Manrope"/>
              </a:rPr>
              <a:t>“Find the right opportunity.”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41648" y="5029200"/>
            <a:ext cx="4114800" cy="868680"/>
          </a:xfrm>
          <a:prstGeom prst="roundRect">
            <a:avLst>
              <a:gd name="adj" fmla="val 10000"/>
            </a:avLst>
          </a:prstGeom>
          <a:solidFill>
            <a:srgbClr val="0B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5175504"/>
            <a:ext cx="3611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CCFBF1"/>
                </a:solidFill>
                <a:latin typeface="Manrope"/>
              </a:rPr>
              <a:t>THE CONNECTION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431536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SWON connects both sides.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03336" y="5029200"/>
            <a:ext cx="3209544" cy="868680"/>
          </a:xfrm>
          <a:prstGeom prst="roundRect">
            <a:avLst>
              <a:gd name="adj" fmla="val 10000"/>
            </a:avLst>
          </a:prstGeom>
          <a:solidFill>
            <a:srgbClr val="FF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1080" y="5175504"/>
            <a:ext cx="2788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59E0B"/>
                </a:solidFill>
                <a:latin typeface="Manrope"/>
              </a:rPr>
              <a:t>HOST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5431536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01E"/>
                </a:solidFill>
                <a:latin typeface="Manrope"/>
              </a:rPr>
              <a:t>“Find the right people.”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How It Works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WORKER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Built Around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the Worker.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59" y="1517904"/>
            <a:ext cx="1965960" cy="36118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-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27632"/>
            <a:ext cx="1288719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5" y="4489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01E"/>
                </a:solidFill>
                <a:latin typeface="Manrope"/>
              </a:rPr>
              <a:t>Discover nearby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" y="47457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F5F5C"/>
                </a:solidFill>
                <a:latin typeface="Manrope"/>
              </a:rPr>
              <a:t>Find opportunities around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79" y="1517904"/>
            <a:ext cx="1965960" cy="36118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-job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487" y="1627632"/>
            <a:ext cx="1288719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79775" y="4489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01E"/>
                </a:solidFill>
                <a:latin typeface="Manrope"/>
              </a:rPr>
              <a:t>See why you 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5" y="47457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F5F5C"/>
                </a:solidFill>
                <a:latin typeface="Manrope"/>
              </a:rPr>
              <a:t>Skills, pay and welfare up front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599" y="1517904"/>
            <a:ext cx="1965960" cy="36118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ui-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7" y="1627632"/>
            <a:ext cx="1288719" cy="2788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82896" y="4489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01E"/>
                </a:solidFill>
                <a:latin typeface="Manrope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47457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F5F5C"/>
                </a:solidFill>
                <a:latin typeface="Manrope"/>
              </a:rPr>
              <a:t>Your day at a glance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19" y="1517904"/>
            <a:ext cx="1965960" cy="36118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i-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7" y="1627632"/>
            <a:ext cx="1288719" cy="2788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86015" y="4489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01E"/>
                </a:solidFill>
                <a:latin typeface="Manrope"/>
              </a:rPr>
              <a:t>Work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5" y="47457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F5F5C"/>
                </a:solidFill>
                <a:latin typeface="Manrope"/>
              </a:rPr>
              <a:t>Track your working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517904"/>
            <a:ext cx="1965960" cy="36118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i-earn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47" y="1627632"/>
            <a:ext cx="1288719" cy="2788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89136" y="44897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0201E"/>
                </a:solidFill>
                <a:latin typeface="Manrope"/>
              </a:rPr>
              <a:t>Earnings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9136" y="474573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F5F5C"/>
                </a:solidFill>
                <a:latin typeface="Manrope"/>
              </a:rPr>
              <a:t>See your earnings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650992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" y="5751576"/>
            <a:ext cx="310896" cy="310896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766E"/>
                </a:solidFill>
                <a:latin typeface="Manrope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5779008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10201E"/>
                </a:solidFill>
                <a:latin typeface="Manrope"/>
              </a:rPr>
              <a:t>94% Match — know before you 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54096" y="5650992"/>
            <a:ext cx="2231136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136392" y="5751576"/>
            <a:ext cx="310896" cy="310896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766E"/>
                </a:solidFill>
                <a:latin typeface="Manrope"/>
              </a:rPr>
              <a:t>FM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1296" y="5779008"/>
            <a:ext cx="1700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10201E"/>
                </a:solidFill>
                <a:latin typeface="Manrope"/>
              </a:rPr>
              <a:t>FlashMatch — accept urgent 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2" y="5650992"/>
            <a:ext cx="1965960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58968" y="5751576"/>
            <a:ext cx="310896" cy="310896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766E"/>
                </a:solidFill>
                <a:latin typeface="Manrope"/>
              </a:rP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3872" y="5779008"/>
            <a:ext cx="1435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10201E"/>
                </a:solidFill>
                <a:latin typeface="Manrope"/>
              </a:rPr>
              <a:t>Formation — know your team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34072" y="5650992"/>
            <a:ext cx="2395728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16368" y="5751576"/>
            <a:ext cx="310896" cy="310896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766E"/>
                </a:solidFill>
                <a:latin typeface="Manrop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1272" y="5779008"/>
            <a:ext cx="18653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10201E"/>
                </a:solidFill>
                <a:latin typeface="Manrope"/>
              </a:rPr>
              <a:t>TrustScore — reputation that grows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5650992"/>
            <a:ext cx="1810512" cy="512064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03536" y="5751576"/>
            <a:ext cx="310896" cy="310896"/>
          </a:xfrm>
          <a:prstGeom prst="ellipse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F766E"/>
                </a:solidFill>
                <a:latin typeface="Manrope"/>
              </a:rPr>
              <a:t>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577900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 i="0">
                <a:solidFill>
                  <a:srgbClr val="10201E"/>
                </a:solidFill>
                <a:latin typeface="Manrope"/>
              </a:rPr>
              <a:t>Earnings — tracked live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Worker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4540"/>
              </a:gs>
              <a:gs pos="100000">
                <a:srgbClr val="0F766E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CFBF1"/>
                </a:solidFill>
                <a:latin typeface="Manrope"/>
              </a:rPr>
              <a:t>HOST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Bricolage Grotesque"/>
              </a:rPr>
              <a:t>Built for </a:t>
            </a:r>
            <a:r>
              <a:rPr sz="3000" b="1">
                <a:solidFill>
                  <a:srgbClr val="FDE047"/>
                </a:solidFill>
                <a:latin typeface="Bricolage Grotesque"/>
              </a:rPr>
              <a:t>Hosts</a:t>
            </a:r>
            <a:r>
              <a:rPr sz="3000" b="1">
                <a:solidFill>
                  <a:srgbClr val="FFFFFF"/>
                </a:solidFill>
                <a:latin typeface="Bricolage Grotesque"/>
              </a:rPr>
              <a:t> Too.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72768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70078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5506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92807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Post the opportunity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49424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377440"/>
            <a:ext cx="347472" cy="347472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69464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Reach matching workers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26080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3054096"/>
            <a:ext cx="347472" cy="347472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083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HIRE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46120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Review requests, pick the right 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02736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3730752"/>
            <a:ext cx="347472" cy="347472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6850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ORGANIZE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2277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Form the team for each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79392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4407408"/>
            <a:ext cx="347472" cy="347472"/>
          </a:xfrm>
          <a:prstGeom prst="ellipse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3616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ATTEND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99432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Scan &amp; confirm who showed 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56048"/>
            <a:ext cx="502920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3232" y="5084064"/>
            <a:ext cx="347472" cy="34747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anrope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03834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4540"/>
                </a:solidFill>
                <a:latin typeface="Manrope"/>
              </a:rPr>
              <a:t>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76088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Approve work and record payments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50992"/>
            <a:ext cx="5029200" cy="603504"/>
          </a:xfrm>
          <a:prstGeom prst="roundRect">
            <a:avLst>
              <a:gd name="adj" fmla="val 10000"/>
            </a:avLst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76072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CCFBF1"/>
                </a:solidFill>
                <a:latin typeface="Manrope"/>
              </a:rPr>
              <a:t>Hosts get one structured workflow for finding, managing and paying temporary workers.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1572768"/>
            <a:ext cx="1783080" cy="4114800"/>
          </a:xfrm>
          <a:prstGeom prst="roundRect">
            <a:avLst>
              <a:gd name="adj" fmla="val 9000"/>
            </a:avLst>
          </a:prstGeom>
          <a:solidFill>
            <a:srgbClr val="0A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i-host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700784"/>
            <a:ext cx="1521111" cy="32918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62472" y="5074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anrope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3492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CCFBF1"/>
                </a:solidFill>
                <a:latin typeface="Manrope"/>
              </a:rPr>
              <a:t>Workforce today, at a glance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7" y="1572768"/>
            <a:ext cx="1783080" cy="4114800"/>
          </a:xfrm>
          <a:prstGeom prst="roundRect">
            <a:avLst>
              <a:gd name="adj" fmla="val 9000"/>
            </a:avLst>
          </a:prstGeom>
          <a:solidFill>
            <a:srgbClr val="0A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ui-host-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00784"/>
            <a:ext cx="1521111" cy="32918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000999" y="5074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anrope"/>
              </a:rPr>
              <a:t>Application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0999" y="53492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CCFBF1"/>
                </a:solidFill>
                <a:latin typeface="Manrope"/>
              </a:rPr>
              <a:t>Review, shortlist and bond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12096" y="1572768"/>
            <a:ext cx="1783080" cy="4114800"/>
          </a:xfrm>
          <a:prstGeom prst="roundRect">
            <a:avLst>
              <a:gd name="adj" fmla="val 9000"/>
            </a:avLst>
          </a:prstGeom>
          <a:solidFill>
            <a:srgbClr val="0A3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i-host-attend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1700784"/>
            <a:ext cx="1521111" cy="329184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939528" y="507492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Manrope"/>
              </a:rPr>
              <a:t>Attendance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9528" y="53492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CCFBF1"/>
                </a:solidFill>
                <a:latin typeface="Manrope"/>
              </a:rPr>
              <a:t>QR check-in, live roster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84C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CFBF1"/>
                </a:solidFill>
                <a:latin typeface="Manrope"/>
              </a:rPr>
              <a:t>SWON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CCFBF1"/>
                </a:solidFill>
                <a:latin typeface="Manrope"/>
              </a:rPr>
              <a:t>Host Experience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CFBF1"/>
                </a:solidFill>
                <a:latin typeface="Manrop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BRAND +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Introducing the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SWON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542032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10512"/>
            <a:ext cx="2176272" cy="1554480"/>
          </a:xfrm>
          <a:prstGeom prst="roundRect">
            <a:avLst>
              <a:gd name="adj" fmla="val 8000"/>
            </a:avLst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won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14016"/>
            <a:ext cx="1188720" cy="343125"/>
          </a:xfrm>
          <a:prstGeom prst="rect">
            <a:avLst/>
          </a:prstGeom>
        </p:spPr>
      </p:pic>
      <p:pic>
        <p:nvPicPr>
          <p:cNvPr id="8" name="Picture 7" descr="swon-ic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2" y="2240280"/>
            <a:ext cx="621792" cy="621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8096" y="3529584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Manrope"/>
              </a:rPr>
              <a:t>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785615"/>
            <a:ext cx="2139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01E"/>
                </a:solidFill>
                <a:latin typeface="Bricolage Grotesque"/>
              </a:rPr>
              <a:t>Recognizable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20624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A distinct wordmark with its own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3017520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45920"/>
            <a:ext cx="2542032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0" y="1810512"/>
            <a:ext cx="2176272" cy="1554480"/>
          </a:xfrm>
          <a:prstGeom prst="roundRect">
            <a:avLst>
              <a:gd name="adj" fmla="val 8000"/>
            </a:avLst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pp-animation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304" y="1874519"/>
            <a:ext cx="750862" cy="14264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75887" y="3529584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Manrope"/>
              </a:rPr>
              <a:t>LAUNCH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785615"/>
            <a:ext cx="2139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01E"/>
                </a:solidFill>
                <a:latin typeface="Bricolage Grotesque"/>
              </a:rPr>
              <a:t>Human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7" y="420624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A clean, friendly opening screen.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017520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1645920"/>
            <a:ext cx="2542032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1810512"/>
            <a:ext cx="2176272" cy="1554480"/>
          </a:xfrm>
          <a:prstGeom prst="roundRect">
            <a:avLst>
              <a:gd name="adj" fmla="val 8000"/>
            </a:avLst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app-animation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220" y="1874519"/>
            <a:ext cx="766615" cy="1426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83679" y="3529584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Manrope"/>
              </a:rPr>
              <a:t>ANIMATION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3785615"/>
            <a:ext cx="2139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01E"/>
                </a:solidFill>
                <a:latin typeface="Bricolage Grotesque"/>
              </a:rPr>
              <a:t>Dynamic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20624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The mark comes alive with motion.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3017520"/>
            <a:ext cx="32918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F766E"/>
                </a:solidFill>
                <a:latin typeface="Manrop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0304" y="1645920"/>
            <a:ext cx="2542032" cy="3383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73184" y="1810512"/>
            <a:ext cx="2176272" cy="1554480"/>
          </a:xfrm>
          <a:prstGeom prst="roundRect">
            <a:avLst>
              <a:gd name="adj" fmla="val 8000"/>
            </a:avLst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pp-animation-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641" y="1874519"/>
            <a:ext cx="719357" cy="142646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491472" y="3529584"/>
            <a:ext cx="21396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766E"/>
                </a:solidFill>
                <a:latin typeface="Manrope"/>
              </a:rPr>
              <a:t>INTO THE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91472" y="3785615"/>
            <a:ext cx="21396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01E"/>
                </a:solidFill>
                <a:latin typeface="Bricolage Grotesque"/>
              </a:rPr>
              <a:t>Connected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1472" y="4206240"/>
            <a:ext cx="213969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4F5F5C"/>
                </a:solidFill>
                <a:latin typeface="Manrope"/>
              </a:rPr>
              <a:t>Brand settles, the product takes over.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349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0201E"/>
                </a:solidFill>
                <a:latin typeface="Manrope"/>
              </a:rPr>
              <a:t>A defined visual identity — </a:t>
            </a:r>
            <a:r>
              <a:rPr sz="1600" b="1">
                <a:solidFill>
                  <a:srgbClr val="0F766E"/>
                </a:solidFill>
                <a:latin typeface="Manrope"/>
              </a:rPr>
              <a:t>not just functional screens.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Brand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INSIDE VERSION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Fifteen modules.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
All built.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17904"/>
            <a:ext cx="11045952" cy="566928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3677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0F766E"/>
                </a:solidFill>
                <a:latin typeface="Manrope"/>
              </a:rPr>
              <a:t>Built in V1  </a:t>
            </a:r>
            <a:r>
              <a:rPr sz="1350" b="1">
                <a:solidFill>
                  <a:srgbClr val="0B4540"/>
                </a:solidFill>
                <a:latin typeface="Manrope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55064"/>
            <a:ext cx="7223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F5F5C"/>
                </a:solidFill>
                <a:latin typeface="Manrope"/>
              </a:rPr>
              <a:t>Everything the app needs for the complete work journey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1284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29514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313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Authentication &amp;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21284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98264" y="229514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313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User &amp; Profile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212848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2295144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23134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KYC &amp;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8892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8" y="2871215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" y="2889503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Job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278892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98264" y="2871215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2889503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Job Discovery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788920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59" y="2871215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2889503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Application Queue &amp; Hiring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364991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8368" y="3447287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" y="346557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Crew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6824" y="3364991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98264" y="3447287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346557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Attendance &amp; Work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364991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38159" y="3447287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7" y="346557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Payment &amp; Earnings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941064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8368" y="40233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" y="40416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Workforce Matching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3941064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98264" y="40233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82312" y="40416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Quick Match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3941064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38159" y="4023360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7" y="404164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Notifications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517136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58368" y="459943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" y="46177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Ratings &amp; Reputation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06824" y="4517136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98264" y="459943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2312" y="46177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Safety &amp; Welfare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46719" y="4517136"/>
            <a:ext cx="356616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38159" y="4599431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22207" y="46177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1" i="0">
                <a:solidFill>
                  <a:srgbClr val="10201E"/>
                </a:solidFill>
                <a:latin typeface="Manrope"/>
              </a:rPr>
              <a:t>Complaints &amp; Support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513892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766E"/>
                </a:solidFill>
                <a:latin typeface="Manrope"/>
              </a:rPr>
              <a:t>●  What Comes Next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08960" y="5257800"/>
            <a:ext cx="3017520" cy="18288"/>
          </a:xfrm>
          <a:prstGeom prst="rect">
            <a:avLst/>
          </a:prstGeom>
          <a:solidFill>
            <a:srgbClr val="E4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513892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F5F5C"/>
                </a:solidFill>
                <a:latin typeface="Manrope"/>
              </a:rPr>
              <a:t>Planned after V1 launch — not part of today's scope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5504688"/>
            <a:ext cx="201168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Digital payouts in-app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70048" y="5504688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Smart job alerts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61688" y="5504688"/>
            <a:ext cx="169164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Instant ID checks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44768" y="5504688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Crew replacements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19288" y="5504688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Full dispute resolution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59567" y="550468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60" b="1">
                <a:solidFill>
                  <a:srgbClr val="B45309"/>
                </a:solidFill>
                <a:latin typeface="Manrope"/>
              </a:rPr>
              <a:t>→  Emergency SOS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089904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0201E"/>
                </a:solidFill>
                <a:latin typeface="Manrope"/>
              </a:rPr>
              <a:t>All fifteen modules are </a:t>
            </a:r>
            <a:r>
              <a:rPr sz="1300" b="1">
                <a:solidFill>
                  <a:srgbClr val="0F766E"/>
                </a:solidFill>
                <a:latin typeface="Manrope"/>
              </a:rPr>
              <a:t>built, tested and validated</a:t>
            </a:r>
            <a:r>
              <a:rPr sz="1300" b="0">
                <a:solidFill>
                  <a:srgbClr val="10201E"/>
                </a:solidFill>
                <a:latin typeface="Manrope"/>
              </a:rPr>
              <a:t> — no module is half-done.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Modules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766E"/>
                </a:solidFill>
                <a:latin typeface="Manrope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0201E"/>
                </a:solidFill>
                <a:latin typeface="Bricolage Grotesque"/>
              </a:rPr>
              <a:t>Project </a:t>
            </a:r>
            <a:r>
              <a:rPr sz="3000" b="1">
                <a:solidFill>
                  <a:srgbClr val="0F766E"/>
                </a:solidFill>
                <a:latin typeface="Bricolage Grotesque"/>
              </a:rPr>
              <a:t>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17904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F766E"/>
                </a:solidFill>
                <a:latin typeface="Bricolage Grotesque"/>
              </a:rPr>
              <a:t>72–75</a:t>
            </a:r>
            <a:r>
              <a:rPr sz="5400" b="1">
                <a:solidFill>
                  <a:srgbClr val="4F5F5C"/>
                </a:solidFill>
                <a:latin typeface="Bricolage Grotesque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254203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F5F5C"/>
                </a:solidFill>
                <a:latin typeface="Manrope"/>
              </a:rPr>
              <a:t>V1 IMPLEMENTATION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889504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10201E"/>
                </a:solidFill>
                <a:latin typeface="Manrope"/>
              </a:rPr>
              <a:t>Current status: </a:t>
            </a:r>
            <a:r>
              <a:rPr sz="1200" b="1">
                <a:solidFill>
                  <a:srgbClr val="10201E"/>
                </a:solidFill>
                <a:latin typeface="Manrope"/>
              </a:rPr>
              <a:t>approximately 72–75% of the V1 implementation is completed.</a:t>
            </a:r>
            <a:r>
              <a:rPr sz="1200" b="0">
                <a:solidFill>
                  <a:srgbClr val="10201E"/>
                </a:solidFill>
                <a:latin typeface="Manrope"/>
              </a:rPr>
              <a:t> The remaining work is primarily final implementation, UI/UX refinement, integration, testing, deployment preparation and production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4443984"/>
            <a:ext cx="4480560" cy="237744"/>
          </a:xfrm>
          <a:prstGeom prst="roundRect">
            <a:avLst>
              <a:gd name="adj" fmla="val 50000"/>
            </a:avLst>
          </a:prstGeom>
          <a:solidFill>
            <a:srgbClr val="E7E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5216" y="4443984"/>
            <a:ext cx="3270808" cy="23774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475488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V1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17739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" y="5175504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5294376"/>
            <a:ext cx="219456" cy="2194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0201E"/>
                </a:solidFill>
                <a:latin typeface="Manrope"/>
              </a:rPr>
              <a:t>Pilot region: </a:t>
            </a:r>
            <a:r>
              <a:rPr sz="1200" b="1">
                <a:solidFill>
                  <a:srgbClr val="0F766E"/>
                </a:solidFill>
                <a:latin typeface="Manrope"/>
              </a:rPr>
              <a:t>Coimbatore</a:t>
            </a:r>
            <a:r>
              <a:rPr sz="1200" b="0">
                <a:solidFill>
                  <a:srgbClr val="10201E"/>
                </a:solidFill>
                <a:latin typeface="Manrope"/>
              </a:rPr>
              <a:t> &amp; </a:t>
            </a:r>
            <a:r>
              <a:rPr sz="1200" b="1">
                <a:solidFill>
                  <a:srgbClr val="0F766E"/>
                </a:solidFill>
                <a:latin typeface="Manrope"/>
              </a:rPr>
              <a:t>Tiruppur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517904"/>
            <a:ext cx="3017520" cy="3968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69280" y="1700784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17373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Completed / Substantially Implemented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5856" y="230428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30428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Project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05856" y="2569464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946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Authentication foundation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05856" y="283464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346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Worker experience foundation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6" y="3099816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0998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Host experience foundation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05856" y="3364992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649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Opportunity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05856" y="363016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63016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Application / hiring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856" y="3895344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89534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Formation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05856" y="416052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16052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Attendance 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05856" y="4425696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4256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Earnings / payment recording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5856" y="4690872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69087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Core UI/UX foundation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05856" y="495604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5803D"/>
                </a:solidFill>
                <a:latin typeface="Manrope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9560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API/backend foundation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1517904"/>
            <a:ext cx="292608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69680" y="1700784"/>
            <a:ext cx="274320" cy="2743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anrope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7152" y="17556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Remaining Before Launch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221284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221284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Final UI/UX remodulation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6256" y="2478024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24780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Remaining feature implementation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6256" y="2743200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Integration refinement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6256" y="3008376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300837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Full testing / QA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273552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32735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Production configuration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06256" y="3538728"/>
            <a:ext cx="228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Manrope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35387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0201E"/>
                </a:solidFill>
                <a:latin typeface="Manrope"/>
              </a:rPr>
              <a:t>Deployment preparation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686800" y="4041648"/>
            <a:ext cx="2926080" cy="12252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18795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4F5F5C"/>
                </a:solidFill>
                <a:latin typeface="Manrope"/>
              </a:rPr>
              <a:t>NEXT MILESTONE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4425696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Complete the V1 experience → Test → Deploy → Launch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515600" y="4187952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7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0" bIns="0"/>
          <a:lstStyle/>
          <a:p>
            <a:pPr algn="ctr"/>
            <a:r>
              <a:rPr sz="900" b="1">
                <a:solidFill>
                  <a:srgbClr val="B45309"/>
                </a:solidFill>
                <a:latin typeface="Manrope"/>
              </a:rPr>
              <a:t>In progress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5669280"/>
            <a:ext cx="6126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0201E"/>
                </a:solidFill>
                <a:latin typeface="Manrope"/>
              </a:rPr>
              <a:t>From finding work to getting paid,
</a:t>
            </a:r>
            <a:r>
              <a:rPr sz="1400" b="1">
                <a:solidFill>
                  <a:srgbClr val="0F766E"/>
                </a:solidFill>
                <a:latin typeface="Manrope"/>
              </a:rPr>
              <a:t>SWON connects the complete temporary-work journey.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6455664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" y="641908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0201E"/>
                </a:solidFill>
                <a:latin typeface="Manrope"/>
              </a:rPr>
              <a:t>SWON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6419088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Project Status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419088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F5F5C"/>
                </a:solidFill>
                <a:latin typeface="Manrope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